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5" r:id="rId1"/>
  </p:sldMasterIdLst>
  <p:notesMasterIdLst>
    <p:notesMasterId r:id="rId27"/>
  </p:notesMasterIdLst>
  <p:sldIdLst>
    <p:sldId id="334" r:id="rId2"/>
    <p:sldId id="335" r:id="rId3"/>
    <p:sldId id="281" r:id="rId4"/>
    <p:sldId id="338" r:id="rId5"/>
    <p:sldId id="257" r:id="rId6"/>
    <p:sldId id="258" r:id="rId7"/>
    <p:sldId id="336" r:id="rId8"/>
    <p:sldId id="260" r:id="rId9"/>
    <p:sldId id="321" r:id="rId10"/>
    <p:sldId id="261" r:id="rId11"/>
    <p:sldId id="313" r:id="rId12"/>
    <p:sldId id="339" r:id="rId13"/>
    <p:sldId id="340" r:id="rId14"/>
    <p:sldId id="341" r:id="rId15"/>
    <p:sldId id="330" r:id="rId16"/>
    <p:sldId id="325" r:id="rId17"/>
    <p:sldId id="328" r:id="rId18"/>
    <p:sldId id="342" r:id="rId19"/>
    <p:sldId id="343" r:id="rId20"/>
    <p:sldId id="324" r:id="rId21"/>
    <p:sldId id="344" r:id="rId22"/>
    <p:sldId id="326" r:id="rId23"/>
    <p:sldId id="306" r:id="rId24"/>
    <p:sldId id="337" r:id="rId25"/>
    <p:sldId id="30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00"/>
    <a:srgbClr val="000000"/>
    <a:srgbClr val="00FFFF"/>
    <a:srgbClr val="FF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774" autoAdjust="0"/>
  </p:normalViewPr>
  <p:slideViewPr>
    <p:cSldViewPr>
      <p:cViewPr varScale="1">
        <p:scale>
          <a:sx n="78" d="100"/>
          <a:sy n="78" d="100"/>
        </p:scale>
        <p:origin x="85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3A8E558-B353-415B-921A-75FD432C79EB}" type="datetimeFigureOut">
              <a:rPr lang="en-IN"/>
              <a:pPr>
                <a:defRPr/>
              </a:pPr>
              <a:t>25-01-2025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0D87923-2C02-4254-9198-F0E0AC25969B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D87923-2C02-4254-9198-F0E0AC25969B}" type="slidenum">
              <a:rPr lang="en-IN" smtClean="0"/>
              <a:pPr>
                <a:defRPr/>
              </a:pPr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447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D87923-2C02-4254-9198-F0E0AC25969B}" type="slidenum">
              <a:rPr lang="en-IN" smtClean="0"/>
              <a:pPr>
                <a:defRPr/>
              </a:pPr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995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D87923-2C02-4254-9198-F0E0AC25969B}" type="slidenum">
              <a:rPr lang="en-IN" smtClean="0"/>
              <a:pPr>
                <a:defRPr/>
              </a:pPr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625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May 19,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7F27B1-7188-4430-A08A-CF954ED07B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53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May 19,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510F8E-0857-4FA7-9814-351B9330AF2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0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May 19,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BD19C2-372A-4012-A0A8-53AF04E7C35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6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May 19,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BEB42F-C1C1-48BA-82C1-71963872BD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8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May 19, 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722138-3310-4F51-981D-35643C397AE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1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May 19, 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DA4AD6-F5E3-491E-A5F3-4D84CB40F09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51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May 19, 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97A8A-52EC-4486-B72E-041D42254DF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9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May 19,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37A0BA-2ADB-4970-94EE-E78102BE3A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63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May 19,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4D725-DFE8-4C21-851B-DB357660853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0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May 19,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278C8E-62A3-4C77-ACB4-90FF76B6F2A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May 19,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515E7-86BF-4F07-8B83-C8CB13B52B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72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May 19,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A9ABB68-4638-4FF4-9792-7CF0130138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7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peda.net/id/08f8c4a8511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257800"/>
            <a:ext cx="9144000" cy="1219200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r>
              <a:rPr lang="en-US" sz="2800" dirty="0">
                <a:solidFill>
                  <a:schemeClr val="accent6"/>
                </a:solidFill>
              </a:rPr>
              <a:t> </a:t>
            </a: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br>
              <a:rPr lang="en-US" sz="2800" dirty="0">
                <a:solidFill>
                  <a:schemeClr val="accent6"/>
                </a:solidFill>
              </a:rPr>
            </a:b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Department </a:t>
            </a:r>
            <a:br>
              <a:rPr lang="en-US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Mahaveer Institute of Science &amp; Technology</a:t>
            </a:r>
            <a:br>
              <a:rPr lang="en-US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2024-2025</a:t>
            </a:r>
          </a:p>
        </p:txBody>
      </p:sp>
      <p:sp>
        <p:nvSpPr>
          <p:cNvPr id="9219" name="Subtitle 2"/>
          <p:cNvSpPr>
            <a:spLocks noGrp="1"/>
          </p:cNvSpPr>
          <p:nvPr>
            <p:ph type="subTitle" idx="1"/>
          </p:nvPr>
        </p:nvSpPr>
        <p:spPr>
          <a:xfrm>
            <a:off x="7376652" y="4419600"/>
            <a:ext cx="3124200" cy="1066800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Dr. R. Nakkeeran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M.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E,Ph.D.,HOD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CSE Dept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1827571" y="2928855"/>
            <a:ext cx="3581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0" rIns="45720" bIns="0"/>
          <a:lstStyle/>
          <a:p>
            <a:pPr algn="ctr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G.Rajini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Asstistant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Professor</a:t>
            </a:r>
          </a:p>
          <a:p>
            <a:pPr algn="ctr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endParaRPr lang="en-US" sz="1600" dirty="0"/>
          </a:p>
          <a:p>
            <a:pPr algn="ctr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endParaRPr lang="en-US" sz="1600" dirty="0"/>
          </a:p>
          <a:p>
            <a:pPr algn="ctr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r>
              <a:rPr lang="en-US" sz="1600" dirty="0"/>
              <a:t> </a:t>
            </a:r>
          </a:p>
        </p:txBody>
      </p:sp>
      <p:pic>
        <p:nvPicPr>
          <p:cNvPr id="9221" name="Picture 1" descr="mistlogoupdat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51987" y="1344614"/>
            <a:ext cx="1381125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1524000" y="1"/>
            <a:ext cx="9144000" cy="1344613"/>
          </a:xfrm>
          <a:prstGeom prst="rect">
            <a:avLst/>
          </a:prstGeom>
          <a:ln>
            <a:noFill/>
          </a:ln>
        </p:spPr>
        <p:txBody>
          <a:bodyPr lIns="0" tIns="0" rIns="18288" bIns="0" anchor="b">
            <a:normAutofit fontScale="97500"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algn="ctr">
              <a:defRPr/>
            </a:pPr>
            <a:endParaRPr lang="en-US" sz="4000" b="1" dirty="0">
              <a:solidFill>
                <a:schemeClr val="accent6"/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24000" y="0"/>
            <a:ext cx="9144000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A MINI PROJECT PRESENTATION </a:t>
            </a:r>
          </a:p>
          <a:p>
            <a:pPr algn="ctr">
              <a:defRPr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ON</a:t>
            </a:r>
            <a:endParaRPr lang="en-GB" sz="2800" b="1" kern="10" cap="all" dirty="0">
              <a:ln/>
              <a:solidFill>
                <a:schemeClr val="accent1">
                  <a:lumMod val="50000"/>
                </a:schemeClr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highlight>
                <a:srgbClr val="008080"/>
              </a:highlight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SIGN LANGUAGE RECOGNITION USING  CNN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defRPr/>
            </a:pPr>
            <a:endParaRPr lang="en-GB" sz="3200" b="1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 bwMode="auto">
          <a:xfrm>
            <a:off x="7595419" y="3019426"/>
            <a:ext cx="2809568" cy="1419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BY:</a:t>
            </a:r>
          </a:p>
          <a:p>
            <a:pPr algn="ctr" fontAlgn="base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Neeraja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  [21E31A0526]</a:t>
            </a:r>
          </a:p>
          <a:p>
            <a:pPr algn="ctr" fontAlgn="base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Sriven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    [21E31A0512]</a:t>
            </a:r>
          </a:p>
          <a:p>
            <a:pPr algn="ctr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MD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Aqeeb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 [21E31A0557]</a:t>
            </a:r>
          </a:p>
          <a:p>
            <a:pPr algn="ctr" fontAlgn="base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defRPr/>
            </a:pP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 bwMode="auto">
          <a:xfrm>
            <a:off x="1789471" y="4084471"/>
            <a:ext cx="3657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0" rIns="45720" bIns="0"/>
          <a:lstStyle/>
          <a:p>
            <a:pPr algn="ctr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Coordinator</a:t>
            </a:r>
          </a:p>
          <a:p>
            <a:pPr algn="ctr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M.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Sreenivas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Reddy</a:t>
            </a:r>
          </a:p>
          <a:p>
            <a:pPr algn="ctr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Associate  Professor</a:t>
            </a:r>
          </a:p>
          <a:p>
            <a:pPr algn="ctr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endParaRPr lang="en-US" sz="1600" dirty="0"/>
          </a:p>
          <a:p>
            <a:pPr algn="ctr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endParaRPr lang="en-US" sz="1600" dirty="0"/>
          </a:p>
          <a:p>
            <a:pPr algn="ctr">
              <a:spcBef>
                <a:spcPts val="600"/>
              </a:spcBef>
              <a:buClr>
                <a:schemeClr val="tx2"/>
              </a:buClr>
              <a:buSzPct val="73000"/>
              <a:defRPr/>
            </a:pPr>
            <a:r>
              <a:rPr lang="en-US" sz="1600" dirty="0"/>
              <a:t> </a:t>
            </a:r>
          </a:p>
        </p:txBody>
      </p:sp>
    </p:spTree>
  </p:cSld>
  <p:clrMapOvr>
    <a:masterClrMapping/>
  </p:clrMapOvr>
  <p:transition>
    <p:pull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b="1" dirty="0"/>
              <a:t>Topics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1557338"/>
            <a:ext cx="9296400" cy="5224462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Abstract</a:t>
            </a:r>
          </a:p>
          <a:p>
            <a:pPr>
              <a:defRPr/>
            </a:pPr>
            <a:r>
              <a:rPr lang="en-US" dirty="0"/>
              <a:t>Introduction</a:t>
            </a:r>
          </a:p>
          <a:p>
            <a:pPr>
              <a:defRPr/>
            </a:pPr>
            <a:r>
              <a:rPr lang="en-US" dirty="0"/>
              <a:t>Existing system</a:t>
            </a:r>
          </a:p>
          <a:p>
            <a:pPr>
              <a:defRPr/>
            </a:pPr>
            <a:r>
              <a:rPr lang="en-US" dirty="0"/>
              <a:t>Proposed system</a:t>
            </a:r>
          </a:p>
          <a:p>
            <a:pPr>
              <a:defRPr/>
            </a:pPr>
            <a:r>
              <a:rPr lang="en-US" dirty="0"/>
              <a:t>Software and Hardware Requirements</a:t>
            </a:r>
          </a:p>
          <a:p>
            <a:pPr>
              <a:defRPr/>
            </a:pPr>
            <a:r>
              <a:rPr lang="en-US" dirty="0"/>
              <a:t>System modules</a:t>
            </a:r>
          </a:p>
          <a:p>
            <a:pPr>
              <a:defRPr/>
            </a:pPr>
            <a:r>
              <a:rPr lang="en-US" dirty="0"/>
              <a:t>System Design</a:t>
            </a:r>
          </a:p>
          <a:p>
            <a:pPr>
              <a:defRPr/>
            </a:pPr>
            <a:r>
              <a:rPr lang="en-US" dirty="0"/>
              <a:t>Testing</a:t>
            </a:r>
          </a:p>
          <a:p>
            <a:pPr>
              <a:defRPr/>
            </a:pPr>
            <a:r>
              <a:rPr lang="en-US" dirty="0"/>
              <a:t>output screens</a:t>
            </a:r>
          </a:p>
          <a:p>
            <a:pPr>
              <a:defRPr/>
            </a:pPr>
            <a:r>
              <a:rPr lang="en-US" dirty="0"/>
              <a:t>Conclusion</a:t>
            </a:r>
          </a:p>
          <a:p>
            <a:pPr>
              <a:defRPr/>
            </a:pPr>
            <a:r>
              <a:rPr lang="en-US" dirty="0"/>
              <a:t>References</a:t>
            </a:r>
          </a:p>
          <a:p>
            <a:pPr marL="274320" indent="-274320">
              <a:buNone/>
              <a:defRPr/>
            </a:pPr>
            <a:endParaRPr lang="en-US" dirty="0"/>
          </a:p>
          <a:p>
            <a:pPr marL="274320" indent="-274320">
              <a:buFont typeface="Wingdings 2"/>
              <a:buChar char=""/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105156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b="1" dirty="0"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0" y="181589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cs typeface="Times New Roman" panose="02020603050405020304" pitchFamily="18" charset="0"/>
              </a:rPr>
              <a:t>Sign language recognition (SLR) plays a crucial role in bridging the communication gap between the hearing and speech-impaired community and the general population. </a:t>
            </a:r>
          </a:p>
          <a:p>
            <a:pPr marL="0" indent="0" algn="just">
              <a:buNone/>
            </a:pPr>
            <a:r>
              <a:rPr lang="en-US" sz="2400" dirty="0">
                <a:cs typeface="Times New Roman" panose="02020603050405020304" pitchFamily="18" charset="0"/>
              </a:rPr>
              <a:t>This study focuses Convolutional Neural Networks (CNNs).</a:t>
            </a:r>
          </a:p>
          <a:p>
            <a:pPr marL="0" indent="0" algn="just">
              <a:buNone/>
            </a:pPr>
            <a:r>
              <a:rPr lang="en-US" sz="2400" dirty="0">
                <a:cs typeface="Times New Roman" panose="02020603050405020304" pitchFamily="18" charset="0"/>
              </a:rPr>
              <a:t>CNNs, with their powerful feature extraction capabilities, are well-suited for processing visual data such as hand gestures and symbols. </a:t>
            </a:r>
          </a:p>
          <a:p>
            <a:pPr marL="0" indent="0" algn="just">
              <a:buNone/>
            </a:pPr>
            <a:r>
              <a:rPr lang="en-US" sz="2400" dirty="0">
                <a:cs typeface="Times New Roman" panose="02020603050405020304" pitchFamily="18" charset="0"/>
              </a:rPr>
              <a:t>The proposed system utilizes a dataset of sign language gestures captured as images or video frames. </a:t>
            </a:r>
          </a:p>
          <a:p>
            <a:pPr marL="0" indent="0" algn="just">
              <a:buNone/>
            </a:pPr>
            <a:r>
              <a:rPr lang="en-US" sz="2400" i="0" dirty="0">
                <a:effectLst/>
                <a:cs typeface="Times New Roman" panose="02020603050405020304" pitchFamily="18" charset="0"/>
              </a:rPr>
              <a:t>Commonly used tools include Python with libraries like TensorFlow and </a:t>
            </a:r>
            <a:r>
              <a:rPr lang="en-US" sz="2400" i="0" dirty="0" err="1">
                <a:effectLst/>
                <a:cs typeface="Times New Roman" panose="02020603050405020304" pitchFamily="18" charset="0"/>
              </a:rPr>
              <a:t>Protobuff</a:t>
            </a:r>
            <a:r>
              <a:rPr lang="en-US" sz="2400" i="0" dirty="0">
                <a:effectLst/>
                <a:cs typeface="Times New Roman" panose="02020603050405020304" pitchFamily="18" charset="0"/>
              </a:rPr>
              <a:t> for model development, as well as OpenCV for video processing</a:t>
            </a:r>
            <a:r>
              <a:rPr lang="en-US" sz="2400" i="0" dirty="0">
                <a:effectLst/>
                <a:latin typeface="+mj-lt"/>
                <a:cs typeface="Times New Roman" panose="02020603050405020304" pitchFamily="18" charset="0"/>
              </a:rPr>
              <a:t>.</a:t>
            </a:r>
            <a:endParaRPr lang="en-US" sz="2400" dirty="0"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874E-2C62-EAB8-3C01-20FC34C15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1000"/>
            <a:ext cx="105918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cs typeface="Times New Roman" panose="02020603050405020304" pitchFamily="18" charset="0"/>
              </a:rPr>
            </a:br>
            <a:r>
              <a:rPr lang="en-US" sz="4900" b="1" dirty="0">
                <a:cs typeface="Times New Roman" panose="02020603050405020304" pitchFamily="18" charset="0"/>
              </a:rPr>
              <a:t>Introduction</a:t>
            </a:r>
            <a:b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44BA1-404C-36BC-217B-C2F5E024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Sign </a:t>
            </a:r>
            <a:r>
              <a:rPr lang="en-IN" sz="2400" dirty="0">
                <a:ea typeface="Calibri" panose="020F0502020204030204" pitchFamily="34" charset="0"/>
              </a:rPr>
              <a:t>Gesture</a:t>
            </a:r>
            <a:r>
              <a:rPr lang="en-IN" sz="2400" dirty="0">
                <a:effectLst/>
                <a:ea typeface="Calibri" panose="020F0502020204030204" pitchFamily="34" charset="0"/>
              </a:rPr>
              <a:t> will be an ultimate tool for people with hearing disability to communicate their thoughts as well as a very good interpretation for non sign language user to understand what the latter is saying. 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Identification of sign gesture is performed with either of the two methods.</a:t>
            </a:r>
          </a:p>
          <a:p>
            <a:pPr marL="0" indent="0" algn="just">
              <a:buNone/>
            </a:pPr>
            <a:r>
              <a:rPr lang="en-IN" sz="2400" b="1" dirty="0">
                <a:ea typeface="Calibri" panose="020F0502020204030204" pitchFamily="34" charset="0"/>
              </a:rPr>
              <a:t>1.G</a:t>
            </a:r>
            <a:r>
              <a:rPr lang="en-IN" sz="2400" b="1" dirty="0">
                <a:effectLst/>
                <a:ea typeface="Calibri" panose="020F0502020204030204" pitchFamily="34" charset="0"/>
              </a:rPr>
              <a:t>love based method </a:t>
            </a:r>
          </a:p>
          <a:p>
            <a:pPr marL="0" indent="0" algn="just">
              <a:buNone/>
            </a:pPr>
            <a:r>
              <a:rPr lang="en-IN" sz="2400" b="1" dirty="0">
                <a:ea typeface="Calibri" panose="020F0502020204030204" pitchFamily="34" charset="0"/>
              </a:rPr>
              <a:t>                        -</a:t>
            </a:r>
            <a:r>
              <a:rPr lang="en-IN" sz="2400" dirty="0">
                <a:ea typeface="Calibri" panose="020F0502020204030204" pitchFamily="34" charset="0"/>
              </a:rPr>
              <a:t>t</a:t>
            </a:r>
            <a:r>
              <a:rPr lang="en-IN" sz="2400" dirty="0">
                <a:effectLst/>
                <a:ea typeface="Calibri" panose="020F0502020204030204" pitchFamily="34" charset="0"/>
              </a:rPr>
              <a:t>he signer wears a pair of data gloves during the capture of hand movements.</a:t>
            </a:r>
          </a:p>
          <a:p>
            <a:pPr marL="0" indent="0" algn="just">
              <a:buNone/>
            </a:pPr>
            <a:r>
              <a:rPr lang="en-IN" sz="2400" b="1" dirty="0">
                <a:ea typeface="Calibri" panose="020F0502020204030204" pitchFamily="34" charset="0"/>
              </a:rPr>
              <a:t>2.</a:t>
            </a:r>
            <a:r>
              <a:rPr lang="en-IN" sz="2400" b="1" dirty="0">
                <a:effectLst/>
                <a:ea typeface="Calibri" panose="020F0502020204030204" pitchFamily="34" charset="0"/>
              </a:rPr>
              <a:t> Vision based method</a:t>
            </a:r>
          </a:p>
          <a:p>
            <a:pPr marL="0" indent="0" algn="just">
              <a:buNone/>
            </a:pPr>
            <a:r>
              <a:rPr lang="en-IN" sz="2400" b="1" dirty="0">
                <a:effectLst/>
                <a:ea typeface="Calibri" panose="020F0502020204030204" pitchFamily="34" charset="0"/>
              </a:rPr>
              <a:t>                         -</a:t>
            </a:r>
            <a:r>
              <a:rPr lang="en-IN" sz="2400" dirty="0">
                <a:effectLst/>
                <a:ea typeface="Calibri" panose="020F0502020204030204" pitchFamily="34" charset="0"/>
              </a:rPr>
              <a:t>further classified into static and dynamic recognition</a:t>
            </a:r>
          </a:p>
          <a:p>
            <a:pPr marL="0" indent="0" algn="just">
              <a:buNone/>
            </a:pPr>
            <a:r>
              <a:rPr lang="en-IN" sz="2400" dirty="0">
                <a:ea typeface="Calibri" panose="020F0502020204030204" pitchFamily="34" charset="0"/>
              </a:rPr>
              <a:t>                         -</a:t>
            </a:r>
            <a:r>
              <a:rPr lang="en-IN" sz="2400" dirty="0">
                <a:effectLst/>
                <a:ea typeface="Calibri" panose="020F0502020204030204" pitchFamily="34" charset="0"/>
              </a:rPr>
              <a:t>Static deals with the 2dimensional representation of gestures </a:t>
            </a:r>
            <a:endParaRPr lang="en-IN" sz="2400" dirty="0"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                         -dynamic is a real time live capture of the gestures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77234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b="1" dirty="0"/>
              <a:t>Existing System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Sign language, as one of the most widely used communication means for hearing-impaired people, is expressed by variations of hand-shapes, body movement, and even facial expression. 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This project proposes an effective recognition model to translate sign language into text or speech in order to help the hearing impaired communicate with normal people through sign language. 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Disadvantages:</a:t>
            </a:r>
          </a:p>
          <a:p>
            <a:pPr marL="0" indent="0" algn="just">
              <a:buNone/>
            </a:pPr>
            <a:r>
              <a:rPr lang="en-IN" sz="2400" dirty="0">
                <a:cs typeface="Times New Roman" panose="02020603050405020304" pitchFamily="18" charset="0"/>
              </a:rPr>
              <a:t>Difficulty with Dynamic Gestures</a:t>
            </a:r>
          </a:p>
          <a:p>
            <a:pPr marL="0" indent="0" algn="just">
              <a:buNone/>
            </a:pPr>
            <a:r>
              <a:rPr lang="en-IN" sz="2400" dirty="0">
                <a:cs typeface="Times New Roman" panose="02020603050405020304" pitchFamily="18" charset="0"/>
              </a:rPr>
              <a:t>Environmental Sensitivity</a:t>
            </a:r>
            <a:endParaRPr lang="en-US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sz="2600" dirty="0">
                <a:effectLst/>
                <a:ea typeface="Calibri" panose="020F0502020204030204" pitchFamily="34" charset="0"/>
              </a:rPr>
              <a:t>We propose to apply CNNs to extract spatial and temporal features from video stream for Sign Language Recognition (SLR).</a:t>
            </a:r>
          </a:p>
          <a:p>
            <a:pPr marL="0" indent="0" algn="just">
              <a:buNone/>
            </a:pPr>
            <a:r>
              <a:rPr lang="en-IN" sz="2600" dirty="0">
                <a:effectLst/>
                <a:ea typeface="Calibri" panose="020F0502020204030204" pitchFamily="34" charset="0"/>
              </a:rPr>
              <a:t>CNNs have been applied in video stream classification recently years. </a:t>
            </a:r>
            <a:endParaRPr lang="en-IN" sz="2600" dirty="0"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IN" sz="2600" dirty="0">
                <a:effectLst/>
                <a:ea typeface="Calibri" panose="020F0502020204030204" pitchFamily="34" charset="0"/>
              </a:rPr>
              <a:t>It costs several weeks or months to train a CNNs with million-scale in million videos. </a:t>
            </a:r>
          </a:p>
          <a:p>
            <a:pPr marL="0" indent="0" algn="just">
              <a:buNone/>
            </a:pPr>
            <a:r>
              <a:rPr lang="en-IN" sz="2600" dirty="0">
                <a:ea typeface="Calibri" panose="020F0502020204030204" pitchFamily="34" charset="0"/>
              </a:rPr>
              <a:t>I</a:t>
            </a:r>
            <a:r>
              <a:rPr lang="en-IN" sz="2600" dirty="0">
                <a:effectLst/>
                <a:ea typeface="Calibri" panose="020F0502020204030204" pitchFamily="34" charset="0"/>
              </a:rPr>
              <a:t>t is still possible to achieve real-time efficiency, with the help of CUDA(</a:t>
            </a:r>
            <a:r>
              <a:rPr lang="en-IN" sz="2600" i="0" dirty="0">
                <a:solidFill>
                  <a:srgbClr val="111111"/>
                </a:solidFill>
                <a:effectLst/>
              </a:rPr>
              <a:t>Compute Unified Device Architecture</a:t>
            </a:r>
            <a:r>
              <a:rPr lang="en-IN" sz="2600" b="1" i="0" dirty="0">
                <a:solidFill>
                  <a:srgbClr val="111111"/>
                </a:solidFill>
                <a:effectLst/>
              </a:rPr>
              <a:t>)</a:t>
            </a:r>
            <a:r>
              <a:rPr lang="en-IN" sz="2600" dirty="0">
                <a:effectLst/>
                <a:ea typeface="Calibri" panose="020F0502020204030204" pitchFamily="34" charset="0"/>
              </a:rPr>
              <a:t> for parallel processing. </a:t>
            </a:r>
          </a:p>
          <a:p>
            <a:pPr marL="0" indent="0" algn="just">
              <a:buNone/>
            </a:pPr>
            <a:r>
              <a:rPr lang="en-IN" sz="2600" dirty="0">
                <a:effectLst/>
                <a:ea typeface="Calibri" panose="020F0502020204030204" pitchFamily="34" charset="0"/>
              </a:rPr>
              <a:t>We develop a CNNs taking multiple types of data as input. </a:t>
            </a:r>
            <a:endParaRPr lang="en-IN" sz="2600" dirty="0">
              <a:ea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2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Advantage</a:t>
            </a:r>
            <a:r>
              <a:rPr lang="en-IN" sz="2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IN" sz="2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1) High accuracy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2)High efficiency</a:t>
            </a:r>
          </a:p>
          <a:p>
            <a:pPr marL="0" indent="0">
              <a:buNone/>
            </a:pP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5CB068-E662-2ED0-2262-0D4B3849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effectLst/>
                <a:ea typeface="Calibri" panose="020F0502020204030204" pitchFamily="34" charset="0"/>
              </a:rPr>
              <a:t>Proposed System</a:t>
            </a:r>
            <a:endParaRPr lang="en-IN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328049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cs typeface="Times New Roman" panose="02020603050405020304" pitchFamily="18" charset="0"/>
              </a:rPr>
              <a:t>Software and Hardware </a:t>
            </a:r>
            <a:r>
              <a:rPr lang="en-US" b="1" dirty="0" err="1">
                <a:cs typeface="Times New Roman" panose="02020603050405020304" pitchFamily="18" charset="0"/>
              </a:rPr>
              <a:t>Requiremets</a:t>
            </a:r>
            <a:endParaRPr lang="en-US" b="1" dirty="0">
              <a:cs typeface="Times New Roman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4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Hardware Requirements:</a:t>
            </a:r>
            <a:endParaRPr lang="en-IN" sz="4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Aft>
                <a:spcPts val="600"/>
              </a:spcAft>
              <a:buNone/>
              <a:tabLst>
                <a:tab pos="457200" algn="l"/>
              </a:tabLst>
            </a:pPr>
            <a:r>
              <a:rPr lang="en-GB" sz="35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System	</a:t>
            </a:r>
            <a:r>
              <a:rPr lang="en-GB" sz="35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: </a:t>
            </a:r>
            <a:r>
              <a:rPr lang="en-GB" sz="3500" dirty="0">
                <a:ea typeface="Times New Roman" panose="02020603050405020304" pitchFamily="18" charset="0"/>
                <a:cs typeface="Times New Roman" panose="02020603050405020304" pitchFamily="18" charset="0"/>
              </a:rPr>
              <a:t>intel core</a:t>
            </a:r>
            <a:r>
              <a:rPr lang="en-GB" sz="35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i3</a:t>
            </a:r>
            <a:endParaRPr lang="en-IN" sz="35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Aft>
                <a:spcPts val="600"/>
              </a:spcAft>
              <a:buNone/>
              <a:tabLst>
                <a:tab pos="457200" algn="l"/>
              </a:tabLst>
            </a:pPr>
            <a:r>
              <a:rPr lang="en-GB" sz="35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Hard Disk </a:t>
            </a:r>
            <a:r>
              <a:rPr lang="en-GB" sz="35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                  : 500 GB</a:t>
            </a:r>
            <a:endParaRPr lang="en-IN" sz="35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Aft>
                <a:spcPts val="600"/>
              </a:spcAft>
              <a:buNone/>
              <a:tabLst>
                <a:tab pos="457200" algn="l"/>
              </a:tabLst>
            </a:pPr>
            <a:r>
              <a:rPr lang="en-GB" sz="35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en-GB" sz="35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	                  : 4 GB</a:t>
            </a:r>
          </a:p>
          <a:p>
            <a:pPr marL="0" lvl="0" indent="0" algn="just">
              <a:lnSpc>
                <a:spcPct val="150000"/>
              </a:lnSpc>
              <a:spcAft>
                <a:spcPts val="600"/>
              </a:spcAft>
              <a:buNone/>
              <a:tabLst>
                <a:tab pos="457200" algn="l"/>
              </a:tabLst>
            </a:pPr>
            <a:r>
              <a:rPr lang="en-IN" sz="4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Software Requirements</a:t>
            </a:r>
            <a:r>
              <a:rPr lang="en-IN" sz="19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IN" sz="19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  <a:tabLst>
                <a:tab pos="231775" algn="l"/>
              </a:tabLst>
            </a:pPr>
            <a:r>
              <a:rPr lang="en-IN" sz="3800" b="1" spc="-1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Operating System    : </a:t>
            </a:r>
            <a:r>
              <a:rPr lang="en-IN" sz="3800" spc="-1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Windows 8</a:t>
            </a:r>
          </a:p>
          <a:p>
            <a:pPr marL="0" lvl="0" indent="0" algn="just">
              <a:lnSpc>
                <a:spcPct val="115000"/>
              </a:lnSpc>
              <a:buSzPts val="1200"/>
              <a:buNone/>
            </a:pPr>
            <a:r>
              <a:rPr lang="en-IN" sz="3800" b="1" spc="-1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IDE                              :</a:t>
            </a:r>
            <a:r>
              <a:rPr lang="en-IN" sz="3800" spc="-1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Visual Studio Code</a:t>
            </a:r>
          </a:p>
          <a:p>
            <a:pPr marL="0" lvl="0" indent="0" algn="just">
              <a:lnSpc>
                <a:spcPct val="150000"/>
              </a:lnSpc>
              <a:spcBef>
                <a:spcPts val="690"/>
              </a:spcBef>
              <a:spcAft>
                <a:spcPts val="1000"/>
              </a:spcAft>
              <a:buSzPts val="1200"/>
              <a:buNone/>
              <a:tabLst>
                <a:tab pos="231775" algn="l"/>
              </a:tabLst>
            </a:pPr>
            <a:r>
              <a:rPr lang="en-IN" sz="3800" b="1" spc="-1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Software                    </a:t>
            </a:r>
            <a:r>
              <a:rPr lang="en-IN" sz="3800" spc="-1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  Python 3.7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18217"/>
            <a:ext cx="105156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b="1" dirty="0">
                <a:cs typeface="Times New Roman" pitchFamily="18" charset="0"/>
              </a:rPr>
              <a:t>System Modules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lnSpc>
                <a:spcPct val="115000"/>
              </a:lnSpc>
              <a:buNone/>
            </a:pPr>
            <a:r>
              <a:rPr lang="en-IN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Collection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15000"/>
              </a:lnSpc>
              <a:buNone/>
            </a:pPr>
            <a:r>
              <a:rPr lang="en-IN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Processing</a:t>
            </a:r>
          </a:p>
          <a:p>
            <a:pPr indent="0" algn="just">
              <a:lnSpc>
                <a:spcPct val="115000"/>
              </a:lnSpc>
              <a:buNone/>
            </a:pPr>
            <a:r>
              <a:rPr lang="en-IN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Segmentation</a:t>
            </a:r>
          </a:p>
          <a:p>
            <a:pPr indent="0" algn="just">
              <a:lnSpc>
                <a:spcPct val="115000"/>
              </a:lnSpc>
              <a:buNone/>
            </a:pPr>
            <a:r>
              <a:rPr lang="en-IN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Feature Extraction</a:t>
            </a:r>
          </a:p>
          <a:p>
            <a:pPr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Classification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IN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Collection</a:t>
            </a:r>
            <a:br>
              <a:rPr lang="en-IN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u="sng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143000"/>
            <a:ext cx="9829800" cy="45719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Data collection is an essential part in this project as our result highly depends on it. 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We have therefore created our own dataset of ASL having 2000 images of 10 static alphabet signs.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Out of the 2000 images captured, 1600 images are used for training and the rest for testing. </a:t>
            </a:r>
            <a:endParaRPr lang="en-IN" sz="2400" dirty="0"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PNG(Portable Network Graphic) is also good in handling high contrast and detailed image. 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webcam will capture the images in the RGB colour space.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IN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Processing</a:t>
            </a:r>
            <a:b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u="sng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14400" y="1865312"/>
            <a:ext cx="10515600" cy="44227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The images obtained are in RGB colour spaces, it becomes more difficult to segment the hand gesture based on the skin colour only.</a:t>
            </a:r>
          </a:p>
          <a:p>
            <a:pPr marL="0" indent="0" algn="just">
              <a:buNone/>
            </a:pPr>
            <a:r>
              <a:rPr lang="en-IN" sz="2400" dirty="0">
                <a:ea typeface="Calibri" panose="020F0502020204030204" pitchFamily="34" charset="0"/>
              </a:rPr>
              <a:t>T</a:t>
            </a:r>
            <a:r>
              <a:rPr lang="en-IN" sz="2400" dirty="0">
                <a:effectLst/>
                <a:ea typeface="Calibri" panose="020F0502020204030204" pitchFamily="34" charset="0"/>
              </a:rPr>
              <a:t>ransforming the images in HSV colour space. </a:t>
            </a:r>
          </a:p>
          <a:p>
            <a:pPr marL="0" indent="0" algn="just">
              <a:buNone/>
            </a:pPr>
            <a:r>
              <a:rPr lang="en-IN" sz="2400" dirty="0" err="1">
                <a:ea typeface="Calibri" panose="020F0502020204030204" pitchFamily="34" charset="0"/>
              </a:rPr>
              <a:t>Hsv</a:t>
            </a:r>
            <a:r>
              <a:rPr lang="en-IN" sz="2400" dirty="0">
                <a:ea typeface="Calibri" panose="020F0502020204030204" pitchFamily="34" charset="0"/>
              </a:rPr>
              <a:t> </a:t>
            </a:r>
            <a:r>
              <a:rPr lang="en-IN" sz="2400" dirty="0">
                <a:effectLst/>
                <a:ea typeface="Calibri" panose="020F0502020204030204" pitchFamily="34" charset="0"/>
              </a:rPr>
              <a:t>is a model which splits the colour of an image into 3 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separate parts.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Hue ( angle around the colour cone)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Saturation ( distance around th</a:t>
            </a:r>
            <a:r>
              <a:rPr lang="en-IN" sz="2400" dirty="0">
                <a:ea typeface="Calibri" panose="020F0502020204030204" pitchFamily="34" charset="0"/>
              </a:rPr>
              <a:t>e </a:t>
            </a:r>
            <a:r>
              <a:rPr lang="en-IN" sz="2400" dirty="0" err="1">
                <a:ea typeface="Calibri" panose="020F0502020204030204" pitchFamily="34" charset="0"/>
              </a:rPr>
              <a:t>color</a:t>
            </a:r>
            <a:r>
              <a:rPr lang="en-IN" sz="2400" dirty="0">
                <a:ea typeface="Calibri" panose="020F0502020204030204" pitchFamily="34" charset="0"/>
              </a:rPr>
              <a:t> cone)</a:t>
            </a:r>
            <a:r>
              <a:rPr lang="en-IN" sz="2400" dirty="0">
                <a:effectLst/>
                <a:ea typeface="Calibri" panose="020F0502020204030204" pitchFamily="34" charset="0"/>
              </a:rPr>
              <a:t>                                         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Value ( height around the colour cone)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HSV is a powerful tool to improve stability of the images by setting 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apart brightness from the chromaticity.</a:t>
            </a:r>
            <a:endParaRPr lang="en-US" sz="4000" dirty="0"/>
          </a:p>
        </p:txBody>
      </p:sp>
      <p:pic>
        <p:nvPicPr>
          <p:cNvPr id="1026" name="Picture 2" descr="How to Get HSV Values From RGB Colorspace and vice-versa In Python">
            <a:extLst>
              <a:ext uri="{FF2B5EF4-FFF2-40B4-BE49-F238E27FC236}">
                <a16:creationId xmlns:a16="http://schemas.microsoft.com/office/drawing/2014/main" id="{1B1EBB26-70BA-55CA-8206-EA416247F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590800"/>
            <a:ext cx="3581400" cy="2971800"/>
          </a:xfrm>
          <a:prstGeom prst="rect">
            <a:avLst/>
          </a:prstGeom>
          <a:noFill/>
          <a:effectLst>
            <a:glow rad="139700">
              <a:schemeClr val="accent3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92964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IN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Segmentation</a:t>
            </a:r>
            <a:endParaRPr lang="en-US" b="1" u="sng" dirty="0">
              <a:solidFill>
                <a:schemeClr val="bg2">
                  <a:lumMod val="5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The first image is then transformed to </a:t>
            </a:r>
            <a:r>
              <a:rPr lang="en-IN" sz="2400" dirty="0" err="1">
                <a:effectLst/>
                <a:ea typeface="Calibri" panose="020F0502020204030204" pitchFamily="34" charset="0"/>
              </a:rPr>
              <a:t>gray</a:t>
            </a:r>
            <a:r>
              <a:rPr lang="en-IN" sz="2400" dirty="0">
                <a:effectLst/>
                <a:ea typeface="Calibri" panose="020F0502020204030204" pitchFamily="34" charset="0"/>
              </a:rPr>
              <a:t> scale.</a:t>
            </a:r>
          </a:p>
          <a:p>
            <a:pPr marL="0" indent="0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The </a:t>
            </a:r>
            <a:r>
              <a:rPr lang="en-IN" sz="2400" dirty="0" err="1">
                <a:effectLst/>
                <a:ea typeface="Calibri" panose="020F0502020204030204" pitchFamily="34" charset="0"/>
              </a:rPr>
              <a:t>gray</a:t>
            </a:r>
            <a:r>
              <a:rPr lang="en-IN" sz="2400" dirty="0">
                <a:effectLst/>
                <a:ea typeface="Calibri" panose="020F0502020204030204" pitchFamily="34" charset="0"/>
              </a:rPr>
              <a:t> Scale is defined as a spectrum of shades between black and white.</a:t>
            </a:r>
          </a:p>
          <a:p>
            <a:pPr marL="0" indent="0">
              <a:buNone/>
            </a:pPr>
            <a:endParaRPr lang="en-IN" sz="1800" dirty="0"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N" sz="1800" dirty="0">
              <a:effectLst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N" sz="1800" dirty="0"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N" sz="1800" dirty="0">
              <a:effectLst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N" sz="1800" dirty="0"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IN" sz="1800" dirty="0">
              <a:effectLst/>
              <a:ea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400" dirty="0"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IN" sz="2400" dirty="0">
                <a:ea typeface="Calibri" panose="020F0502020204030204" pitchFamily="34" charset="0"/>
              </a:rPr>
              <a:t>T</a:t>
            </a:r>
            <a:r>
              <a:rPr lang="en-IN" sz="2400" dirty="0">
                <a:effectLst/>
                <a:ea typeface="Calibri" panose="020F0502020204030204" pitchFamily="34" charset="0"/>
              </a:rPr>
              <a:t>he segmentation process where binary images of size 64 by 64 are obtained where the area in white represents the hand gesture, and the black coloured area is the rest.</a:t>
            </a:r>
            <a:endParaRPr lang="en-US" sz="3600" dirty="0"/>
          </a:p>
        </p:txBody>
      </p:sp>
      <p:sp>
        <p:nvSpPr>
          <p:cNvPr id="119812" name="Rectangle 4"/>
          <p:cNvSpPr>
            <a:spLocks noRot="1" noChangeArrowheads="1"/>
          </p:cNvSpPr>
          <p:nvPr/>
        </p:nvSpPr>
        <p:spPr bwMode="auto">
          <a:xfrm>
            <a:off x="1828800" y="1600201"/>
            <a:ext cx="854075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hlink"/>
              </a:buClr>
              <a:buSzPct val="120000"/>
              <a:buFontTx/>
              <a:buChar char="•"/>
              <a:defRPr/>
            </a:pPr>
            <a:endParaRPr lang="en-US" sz="3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2" name="Picture 1" descr="Milos Duma Photography: Photography Fundamentals">
            <a:extLst>
              <a:ext uri="{FF2B5EF4-FFF2-40B4-BE49-F238E27FC236}">
                <a16:creationId xmlns:a16="http://schemas.microsoft.com/office/drawing/2014/main" id="{29D43D15-BCA0-F6A9-0215-22DE559F8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709070"/>
            <a:ext cx="9144000" cy="228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085A5-02E3-4528-3016-37CB5062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Feature Extraction</a:t>
            </a:r>
            <a:br>
              <a:rPr lang="en-IN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19727-7135-BD35-43E4-B3CB6514B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One of the most crucial part in image processing is to select and extract important features from an image. 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Images when captured and stored as a dataset usually</a:t>
            </a:r>
          </a:p>
          <a:p>
            <a:pPr marL="0" indent="0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take up a whole lot of space as they are comprised of</a:t>
            </a:r>
          </a:p>
          <a:p>
            <a:pPr marL="0" indent="0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a huge amount of data.</a:t>
            </a:r>
          </a:p>
          <a:p>
            <a:pPr marL="0" indent="0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Feature extraction helps us solve this problem by</a:t>
            </a:r>
          </a:p>
          <a:p>
            <a:pPr marL="0" indent="0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reducing the data after having extracted the </a:t>
            </a:r>
          </a:p>
          <a:p>
            <a:pPr marL="0" indent="0">
              <a:buNone/>
            </a:pPr>
            <a:r>
              <a:rPr lang="en-IN" sz="2400" dirty="0">
                <a:effectLst/>
                <a:ea typeface="Calibri" panose="020F0502020204030204" pitchFamily="34" charset="0"/>
              </a:rPr>
              <a:t>important features automatically.        </a:t>
            </a:r>
            <a:endParaRPr lang="en-IN" sz="3600" dirty="0"/>
          </a:p>
        </p:txBody>
      </p:sp>
      <p:pic>
        <p:nvPicPr>
          <p:cNvPr id="7" name="Picture 6" descr="Hand gesture images before and after segmentation | Download Scientific ...">
            <a:extLst>
              <a:ext uri="{FF2B5EF4-FFF2-40B4-BE49-F238E27FC236}">
                <a16:creationId xmlns:a16="http://schemas.microsoft.com/office/drawing/2014/main" id="{0965248D-F0E1-F2F2-CB3E-68A234285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438400"/>
            <a:ext cx="3581400" cy="3429000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06953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503AB-2546-1574-497D-A000FF0CB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Classification</a:t>
            </a:r>
            <a:br>
              <a:rPr lang="en-IN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4224A-298F-2EB1-DAD1-31040BEAD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690688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Classification involves building a model that can interpret images or videos of hand gestures and classify them into corresponding letters, words.</a:t>
            </a:r>
            <a:endParaRPr lang="en-IN" sz="2400" dirty="0"/>
          </a:p>
        </p:txBody>
      </p:sp>
      <p:pic>
        <p:nvPicPr>
          <p:cNvPr id="7" name="Picture 2" descr="Hands-On Guide To Sign Language Classification Using CNN">
            <a:extLst>
              <a:ext uri="{FF2B5EF4-FFF2-40B4-BE49-F238E27FC236}">
                <a16:creationId xmlns:a16="http://schemas.microsoft.com/office/drawing/2014/main" id="{1B7C819E-81C1-1AEC-C2AE-E21F82B57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352800"/>
            <a:ext cx="9067800" cy="2286000"/>
          </a:xfrm>
          <a:prstGeom prst="rect">
            <a:avLst/>
          </a:prstGeom>
          <a:noFill/>
          <a:effectLst>
            <a:glow rad="228600">
              <a:schemeClr val="accent3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355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2D63-A84D-FE2D-5BFE-D4AC82A38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811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System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77171F-7CFE-071D-3DAB-C35914F9FE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371600"/>
            <a:ext cx="99060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72559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cs typeface="Times New Roman" pitchFamily="18" charset="0"/>
              </a:rPr>
              <a:t>Use case diagram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           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7F83A6-E849-E2EE-9448-744A7990F16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1676400" y="1524000"/>
            <a:ext cx="8610600" cy="4810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IN" b="1" dirty="0">
                <a:cs typeface="Times New Roman" pitchFamily="18" charset="0"/>
              </a:rPr>
              <a:t>Sequence Diagram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2CDC49-0609-BC3D-F2AC-A9F36F657B8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1143000" y="1690688"/>
            <a:ext cx="9753600" cy="440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b="1" dirty="0">
                <a:cs typeface="Times New Roman" pitchFamily="18" charset="0"/>
              </a:rPr>
              <a:t>Class Diagram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B890E5-01B4-1B17-BDBD-74F3CC34D730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990600" y="1905000"/>
            <a:ext cx="98298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031CD-D1DE-20DE-1194-E64B53AF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49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Collaboration Diagram</a:t>
            </a:r>
            <a:br>
              <a:rPr lang="en-IN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6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3FFF14-CDF5-26E0-EDC7-950F6DEFC30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1066800" y="1690688"/>
            <a:ext cx="9906000" cy="432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29255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E4FA-1B14-223B-8671-136C641A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6ADBE-1B7C-8517-4FAD-FEBED3821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690688"/>
            <a:ext cx="10515600" cy="4351338"/>
          </a:xfrm>
          <a:noFill/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600" b="1" i="0" dirty="0">
                <a:solidFill>
                  <a:srgbClr val="222222"/>
                </a:solidFill>
                <a:effectLst/>
              </a:rPr>
              <a:t>1.Unit Testing</a:t>
            </a:r>
            <a:r>
              <a:rPr lang="en-US" sz="2600" b="0" i="0" dirty="0">
                <a:solidFill>
                  <a:srgbClr val="222222"/>
                </a:solidFill>
                <a:effectLst/>
              </a:rPr>
              <a:t>: Tests individual components.</a:t>
            </a:r>
          </a:p>
          <a:p>
            <a:pPr marL="0" indent="0" algn="just">
              <a:buNone/>
            </a:pPr>
            <a:r>
              <a:rPr lang="en-US" sz="2600" b="1" i="0" dirty="0">
                <a:solidFill>
                  <a:srgbClr val="222222"/>
                </a:solidFill>
                <a:effectLst/>
              </a:rPr>
              <a:t>2.Integration Testing</a:t>
            </a:r>
            <a:r>
              <a:rPr lang="en-US" sz="2600" b="0" i="0" dirty="0">
                <a:solidFill>
                  <a:srgbClr val="222222"/>
                </a:solidFill>
                <a:effectLst/>
              </a:rPr>
              <a:t>: Ensures combined parts work together.</a:t>
            </a:r>
          </a:p>
          <a:p>
            <a:pPr marL="0" indent="0" algn="just">
              <a:buNone/>
            </a:pPr>
            <a:r>
              <a:rPr lang="en-US" sz="2600" b="1" i="0" dirty="0">
                <a:solidFill>
                  <a:srgbClr val="222222"/>
                </a:solidFill>
                <a:effectLst/>
              </a:rPr>
              <a:t>3.System Testing</a:t>
            </a:r>
            <a:r>
              <a:rPr lang="en-US" sz="2600" b="0" i="0" dirty="0">
                <a:solidFill>
                  <a:srgbClr val="222222"/>
                </a:solidFill>
                <a:effectLst/>
              </a:rPr>
              <a:t>: Checks the entire system's compliance with requirements.</a:t>
            </a:r>
          </a:p>
          <a:p>
            <a:pPr marL="0" indent="0" algn="just">
              <a:buNone/>
            </a:pPr>
            <a:r>
              <a:rPr lang="en-US" sz="2600" b="1" i="0" dirty="0">
                <a:solidFill>
                  <a:srgbClr val="222222"/>
                </a:solidFill>
                <a:effectLst/>
              </a:rPr>
              <a:t>4.Acceptance Testing</a:t>
            </a:r>
            <a:r>
              <a:rPr lang="en-US" sz="2600" b="0" i="0" dirty="0">
                <a:solidFill>
                  <a:srgbClr val="222222"/>
                </a:solidFill>
                <a:effectLst/>
              </a:rPr>
              <a:t>: Performed by the end user to confirm their needs are met.</a:t>
            </a:r>
          </a:p>
          <a:p>
            <a:pPr marL="0" indent="0" algn="just">
              <a:buNone/>
            </a:pPr>
            <a:r>
              <a:rPr lang="en-US" sz="2600" b="1" i="0" dirty="0">
                <a:solidFill>
                  <a:srgbClr val="222222"/>
                </a:solidFill>
                <a:effectLst/>
              </a:rPr>
              <a:t>5.Functional testing</a:t>
            </a:r>
            <a:r>
              <a:rPr lang="en-US" sz="2600" b="0" i="0" dirty="0">
                <a:solidFill>
                  <a:srgbClr val="222222"/>
                </a:solidFill>
                <a:effectLst/>
              </a:rPr>
              <a:t>: Functional tests provide systematic demonstrations that functions tested are available.</a:t>
            </a:r>
          </a:p>
          <a:p>
            <a:pPr marL="0" indent="0" algn="just">
              <a:buNone/>
            </a:pPr>
            <a:r>
              <a:rPr lang="en-US" sz="2600" b="1" i="0" dirty="0">
                <a:solidFill>
                  <a:srgbClr val="222222"/>
                </a:solidFill>
                <a:effectLst/>
              </a:rPr>
              <a:t>6.White Box Testing</a:t>
            </a:r>
            <a:r>
              <a:rPr lang="en-US" sz="2600" b="0" i="0" dirty="0">
                <a:solidFill>
                  <a:srgbClr val="222222"/>
                </a:solidFill>
                <a:effectLst/>
              </a:rPr>
              <a:t>: It </a:t>
            </a:r>
            <a:r>
              <a:rPr lang="en-US" sz="2600" dirty="0">
                <a:solidFill>
                  <a:srgbClr val="222222"/>
                </a:solidFill>
              </a:rPr>
              <a:t>is </a:t>
            </a:r>
            <a:r>
              <a:rPr lang="en-US" sz="2600" b="0" i="0" dirty="0">
                <a:solidFill>
                  <a:srgbClr val="222222"/>
                </a:solidFill>
                <a:effectLst/>
              </a:rPr>
              <a:t>a testing in which in which the software tester has knowledge of the inner workings.</a:t>
            </a:r>
          </a:p>
          <a:p>
            <a:pPr marL="0" indent="0" algn="just">
              <a:buNone/>
            </a:pPr>
            <a:r>
              <a:rPr lang="en-US" sz="2600" b="1" i="0" dirty="0">
                <a:solidFill>
                  <a:srgbClr val="222222"/>
                </a:solidFill>
                <a:effectLst/>
              </a:rPr>
              <a:t>7.Black Box Testing</a:t>
            </a:r>
            <a:r>
              <a:rPr lang="en-US" sz="2600" b="0" i="0" dirty="0">
                <a:solidFill>
                  <a:srgbClr val="222222"/>
                </a:solidFill>
                <a:effectLst/>
              </a:rPr>
              <a:t>: It is a testing in which the software under test is treated, </a:t>
            </a:r>
            <a:r>
              <a:rPr lang="en-US" sz="2600" b="0" i="0" dirty="0" err="1">
                <a:solidFill>
                  <a:srgbClr val="222222"/>
                </a:solidFill>
                <a:effectLst/>
              </a:rPr>
              <a:t>asa</a:t>
            </a:r>
            <a:r>
              <a:rPr lang="en-US" sz="2600" b="0" i="0" dirty="0">
                <a:solidFill>
                  <a:srgbClr val="222222"/>
                </a:solidFill>
                <a:effectLst/>
              </a:rPr>
              <a:t> black box .you cannot "see" into it.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1682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IN" b="1" dirty="0">
                <a:cs typeface="Times New Roman" pitchFamily="18" charset="0"/>
              </a:rPr>
              <a:t>Out screens 1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B426CC2-8B5A-F5A1-1BD9-E008A6078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4E055-5022-7F06-10E3-ACD1E2DE6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cs typeface="Times New Roman" pitchFamily="18" charset="0"/>
              </a:rPr>
              <a:t>Out screens 2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677114-8546-63EA-A5A4-80E04BA24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905000"/>
            <a:ext cx="80010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1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IN" b="1" dirty="0">
                <a:cs typeface="Times New Roman" pitchFamily="18" charset="0"/>
              </a:rPr>
              <a:t>Out screens 3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E58861FF-5173-AFE0-EBC8-2E4F2FCDE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600" y="1744662"/>
            <a:ext cx="7739489" cy="4351338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b="1" dirty="0"/>
              <a:t>Conclusion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14400" y="1847850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Sign languages are differ from country to country in terms of gestures, body language and face expressions. 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grammars and structure of a sentence also varies a lot.</a:t>
            </a:r>
          </a:p>
          <a:p>
            <a:pPr marL="0" indent="0" algn="just">
              <a:buNone/>
            </a:pPr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Some gestures are difficult to reproduce. </a:t>
            </a:r>
          </a:p>
          <a:p>
            <a:pPr marL="0" indent="0" algn="just">
              <a:buNone/>
            </a:pPr>
            <a:r>
              <a:rPr lang="en-IN" sz="2400" dirty="0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 is hard to keep our hands in exact same position when creating our dataset.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[1] </a:t>
            </a:r>
            <a:r>
              <a:rPr lang="en-IN" sz="1600" u="sng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https://peda.net/id/08f8c4a8511</a:t>
            </a:r>
            <a:endParaRPr lang="en-IN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[2] K. </a:t>
            </a:r>
            <a:r>
              <a:rPr lang="en-IN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Bantupalli</a:t>
            </a:r>
            <a:r>
              <a:rPr lang="en-IN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and Y. Xie, "American Sign Language Recognition using Deep Learning and Computer Vision," 2018 IEEE International Conference on Big Data (Big Data), Seattle, WA, USA, 2018, pp. 4896-4899, </a:t>
            </a:r>
            <a:r>
              <a:rPr lang="en-IN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doi</a:t>
            </a:r>
            <a:r>
              <a:rPr lang="en-IN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10.1109/BigData.2018.8622141.</a:t>
            </a: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[3] CABRERA, MARIA &amp; BOGADO, JUAN &amp; Fermín, Leonardo &amp; </a:t>
            </a:r>
            <a:r>
              <a:rPr lang="en-IN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Acuña</a:t>
            </a:r>
            <a:r>
              <a:rPr lang="en-IN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Raul &amp; RALEV, DIMITAR. (2012). GLOVE-BASED GESTURE RECOGNITION SYSTEM</a:t>
            </a:r>
            <a:r>
              <a:rPr lang="en-IN" sz="1600" dirty="0">
                <a:ea typeface="Calibri" panose="020F0502020204030204" pitchFamily="34" charset="0"/>
                <a:cs typeface="Times New Roman" panose="02020603050405020304" pitchFamily="18" charset="0"/>
              </a:rPr>
              <a:t>. 10.1142</a:t>
            </a: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[4] He, Siming. (2019). Research of a Sign Language Translation System Based on Deep Learning. 392-396. 10.1109/AIAM48774.2019.00083. </a:t>
            </a: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[5] International Conference on </a:t>
            </a:r>
            <a:r>
              <a:rPr lang="en-IN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Trendz</a:t>
            </a:r>
            <a:r>
              <a:rPr lang="en-IN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in Information Sciences and Computing (TISC). : 30-35, 2012. </a:t>
            </a: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endParaRPr lang="en-IN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WordArt 4"/>
          <p:cNvSpPr>
            <a:spLocks noChangeArrowheads="1" noChangeShapeType="1" noTextEdit="1"/>
          </p:cNvSpPr>
          <p:nvPr/>
        </p:nvSpPr>
        <p:spPr bwMode="auto">
          <a:xfrm>
            <a:off x="2895600" y="1828800"/>
            <a:ext cx="6477000" cy="2133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8880"/>
              </a:avLst>
            </a:prstTxWarp>
          </a:bodyPr>
          <a:lstStyle/>
          <a:p>
            <a:pPr algn="ctr"/>
            <a:r>
              <a:rPr lang="en-US" sz="3600" b="1" kern="10" dirty="0">
                <a:ln w="9525">
                  <a:noFill/>
                  <a:round/>
                  <a:headEnd/>
                  <a:tailEnd/>
                </a:ln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Thank You…</a:t>
            </a:r>
            <a:endParaRPr lang="en-US" sz="3600" b="1" kern="10" dirty="0">
              <a:ln w="9525">
                <a:noFill/>
                <a:round/>
                <a:headEnd/>
                <a:tailEnd/>
              </a:ln>
              <a:solidFill>
                <a:srgbClr val="1FAECD"/>
              </a:solidFill>
              <a:effectLst>
                <a:outerShdw dist="35921" dir="2700000" algn="ctr" rotWithShape="0">
                  <a:srgbClr val="C0C0C0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1661</TotalTime>
  <Words>1331</Words>
  <Application>Microsoft Office PowerPoint</Application>
  <PresentationFormat>Widescreen</PresentationFormat>
  <Paragraphs>153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 2</vt:lpstr>
      <vt:lpstr>Office Theme</vt:lpstr>
      <vt:lpstr>                                                                                                                     CSE Department  Mahaveer Institute of Science &amp; Technology 2024-2025</vt:lpstr>
      <vt:lpstr>Topics</vt:lpstr>
      <vt:lpstr>Abstract</vt:lpstr>
      <vt:lpstr> Introduction </vt:lpstr>
      <vt:lpstr>Existing System</vt:lpstr>
      <vt:lpstr>Proposed System</vt:lpstr>
      <vt:lpstr>Software and Hardware Requiremets</vt:lpstr>
      <vt:lpstr>System Modules</vt:lpstr>
      <vt:lpstr>Data Collection </vt:lpstr>
      <vt:lpstr>Data Processing </vt:lpstr>
      <vt:lpstr>Segmentation</vt:lpstr>
      <vt:lpstr>Feature Extraction </vt:lpstr>
      <vt:lpstr>Classification </vt:lpstr>
      <vt:lpstr>System Design</vt:lpstr>
      <vt:lpstr>Use case diagram </vt:lpstr>
      <vt:lpstr>Sequence Diagram </vt:lpstr>
      <vt:lpstr>Class Diagram </vt:lpstr>
      <vt:lpstr> Collaboration Diagram </vt:lpstr>
      <vt:lpstr>Testing</vt:lpstr>
      <vt:lpstr>Out screens 1</vt:lpstr>
      <vt:lpstr>Out screens 2</vt:lpstr>
      <vt:lpstr>Out screens 3</vt:lpstr>
      <vt:lpstr>Conclusion</vt:lpstr>
      <vt:lpstr>References</vt:lpstr>
      <vt:lpstr>PowerPoint Presentation</vt:lpstr>
    </vt:vector>
  </TitlesOfParts>
  <Company>friends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jana</dc:creator>
  <cp:lastModifiedBy>jagadish dusnamoni</cp:lastModifiedBy>
  <cp:revision>157</cp:revision>
  <dcterms:created xsi:type="dcterms:W3CDTF">2008-03-18T04:25:48Z</dcterms:created>
  <dcterms:modified xsi:type="dcterms:W3CDTF">2025-01-25T01:38:35Z</dcterms:modified>
</cp:coreProperties>
</file>